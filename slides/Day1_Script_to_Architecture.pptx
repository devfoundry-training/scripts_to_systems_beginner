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</p:sldIdLst>
  <p:notesMasterIdLst>
    <p:notesMasterId r:id="rId4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46304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From Scripts to Systems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1, From Script to Architecture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3474720"/>
            <a:ext cx="106984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B0B0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Application Architecture for Instrument Control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About This Course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Who: engineers who write Python for instruments and want to write better software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What: build a working instrument-control application over 3 days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How: simulator-first, no real hardware required for any delegate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pattern appears first in simple form, then in a realistic context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1: Architecture foundations | Day 2: GUI application | Day 3: Data and performance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Training Rig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SimulatedInstrument generates temperature and voltage readings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Accepts commands (READ:TEMP, SET:INTERVAL, *IDN?), returns realistic data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simulate errors: timeouts, garbage responses, intermittent disconnects, drift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Optional: one real Arduino/instrument rig on the instructor desk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delegates work entirely with the simulator, no hardware dependency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Script That Works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200-line Python script: open serial port, read values, print them, write to CSV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runs, it produces output, it does the job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a one-off measurement task, this is absolutely fine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what happens when the requirements change?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Script That Breaks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boss wants a GUI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instrument changes (new model, new protocol)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second engineer has to maintain it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 format needs to change (CSV to HDF5, add metadata)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add error handling, retries, timeouts...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Discussion: what has broken YOUR scripts?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Why Scripts Break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 one place, no separation of concerns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scattered across global variables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 details wired directly into application logic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way to test without plugging in real hardware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change ripples through the entire file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are structural problems that patterns solve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Goal — Architecture That Survives Change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 architecture: UI, Controller, Model, Adapter, Hardware/Simulator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instrument? Change one adapter file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 the data format? Change one sink file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GUI? The model doesn't know or care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we're heading over 3 days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OOP from Scratch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Classes, objects, state, and responsibility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Functions vs Classes — When to Upgrade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are great for stateless transformations: parse_reading(), format_timestamp()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are for things with state and behaviour: a connection, a recorder, a sensor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if you pass the same 3 or 4 values between functions, you want an object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Don't oversell OOP, functions are fine when they're enough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Functions vs Classes — Code Example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 (stateless)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336792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(stateful)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6336792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914400"/>
            <a:ext cx="0" cy="512064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parse_reading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"""No state needed, just transform."""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parse_reading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"TEMP,23.5,C"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3952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SerialConnection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"""Has state: port, baud rate, open/closed."""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baud_rate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baud_rate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baud_rate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baud_rate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for transformations, classes for things with state and identity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an Object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combines state, behaviour, and identity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TemperatureReading has a value, a unit, a timestamp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SerialConnection has a port, a baud rate, an open/closed state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an Object — Code Example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1274552" cy="4846320"/>
          </a:xfrm>
          <a:prstGeom prst="rect">
            <a:avLst>
              <a:gd name="adj" fmla="val 1887"/>
            </a:avLst>
          </a:prstGeom>
          <a:solidFill>
            <a:srgbClr val="0D11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108813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TemperatureReading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"""State: value, unit, timestamp. Behaviour: format, convert."""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timestamp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f"{self.value:.2f} {self.unit}"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to_celsius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unit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32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Create an instance — a specific reading with its own identity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TemperatureReading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23.5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datetime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now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"23.50 C"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 and Responsibility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class should have one clear reason to exist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TemperatureSensor: reads temperature from the instrument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DataRecorder: writes readings to a file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class is doing two unrelated things, split it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Test: describe the class in one sentence. If you need "and", it's two classes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State and Responsibility — Bad vs Good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many responsibilities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336792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job each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6336792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914400"/>
            <a:ext cx="0" cy="512064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InstrumentManager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"""Reads AND records AND displays."""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csv_file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"data.csv"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do_everything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","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csv_file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f"{value}\n"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label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setText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f"{value:.2f}"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3952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"""Reads from instrument."""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"""Writes to file."""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"""Shows to user."""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Each can change independently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Composition vs Inheritance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("is a"): use sparingly, mainly for the adapter interface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("has a"): use by default, most instrument code benefits from this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DataAcquisitionSystem HAS a sensor, HAS a recorder, HAS a display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NOT a sensor, NOT a recorder, NOT a display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instrument code, composition wins almost always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Composition vs Inheritance — Code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 (fragile)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336792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Composition (flexible)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6336792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914400"/>
            <a:ext cx="0" cy="512064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Inheriting from the sensor? Really?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DataSystem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TemperatureSensor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"""IS a sensor... but also records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?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What if we need two sensors?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What if we swap the sensor type?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Inheritance locks us in.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3952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DataSystem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"""HAS a sensor, HAS a recorder."""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__init__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injected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injected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acquire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sensor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Swap sensor? Pass a different one.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 a second sensor? Add another field.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Composition keeps options open.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to Slice Logic into Small Units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nouns: instrument, reading, recorder, config, display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verbs: connect, read, record, display, configure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each verb to the right noun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 noun has too many verbs, split it into two nouns</a:t>
            </a:r>
            <a:endParaRPr lang="en-US" sz="15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FC3F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1 — From Script to Classes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will receive a messy 200-line script (examples/messy_script.py)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through it and identify at least 3 distinct responsibilities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 class for each responsibility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Refactor main() so it creates instances and calls methods, no globals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refactored version should produce the same output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25 to 30 minutes</a:t>
            </a:r>
            <a:endParaRPr lang="en-US" sz="15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1 Debrief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classes did you create?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answers: InstrumentReader, DataRecorder, ReadingFormatter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mistake: creating classes that are just namespaces (no state)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mistake: making one giant class that does everything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answer, but some splits are clearly better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Patterns in Instrument Programming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3291840"/>
            <a:ext cx="10698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Seams, adapters, and strategies</a:t>
            </a:r>
            <a:endParaRPr lang="en-US" sz="2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Messy Driver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150-line instrument driver (examples/messy_driver.py)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Mixed concerns: serial setup, command formatting, response parsing, error handling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Hardcoded port, baud rate, command strings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works, but changing anything is risky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Is a Seam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seam is a point where you can change behaviour without editing surrounding code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instrument code, seams are at: the transport layer, the command format, the response parser, and the error handler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seams tell you where to cut</a:t>
            </a:r>
            <a:endParaRPr lang="en-US" sz="15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Finding Seams — Code Example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1274552" cy="4846320"/>
          </a:xfrm>
          <a:prstGeom prst="rect">
            <a:avLst>
              <a:gd name="adj" fmla="val 1887"/>
            </a:avLst>
          </a:prstGeom>
          <a:solidFill>
            <a:srgbClr val="0D11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108813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read_temperature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SEAM 1: Transport — hardcoded serial setup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'/dev/ttyUSB0'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SEAM 2: Protocol — hardcoded command format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'READ:TEMP\n'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SEAM 3: Parsing — coupled to response format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SEAM 4: Error handling — scattered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"WARNING: suspect reading"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seams in one function. Each is a reason to change. Each should be its own concern.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Refactoring Toward Clarity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Before: everything tangled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336792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After: seams separated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6336792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914400"/>
            <a:ext cx="0" cy="512064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read_temperature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'/dev/ttyUSB0'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9600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'READ:TEMP\n'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float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split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','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3952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read_temperature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'READ:TEMP'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extract_value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Transport is injectable (real or fake)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Parser is a pure function (testable)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read_temperature() just orchestrates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FC3F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2 — Refactor the Messy Driver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 the messy driver (examples/messy_driver.py)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the seams (transitions between concerns)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at least the transport layer and parsing logic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the driver should be testable without a real serial port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the FakeSerial class unchanged, it simulates the port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30 minutes</a:t>
            </a:r>
            <a:endParaRPr lang="en-US" sz="15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2 Debrief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separating transport from protocol makes everything testable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Transport class can accept any serial-like object (real or fake)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parsing functions can be tested with simple string inputs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separation is the foundation for the Adapter pattern, up next</a:t>
            </a:r>
            <a:endParaRPr lang="en-US" sz="15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Code Married to Hardware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serial.Serial('/dev/ttyUSB0', 9600) appears in 47 places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the instrument? Rewrite everything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without hardware? Impossible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serial timeout crashes the entire GUI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your code can only run when the hardware is plugged in, your code owns you</a:t>
            </a:r>
            <a:endParaRPr lang="en-US" sz="15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Adapter Pattern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an interface (the port): connect(), read_value(), send_command(), disconnect()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it twice: RealInstrumentAdapter and SimulatedInstrumentAdapter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your code talks only to the interface, never to serial.Serial directly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single most important pattern in the course</a:t>
            </a:r>
            <a:endParaRPr lang="en-US" sz="15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Adapter Interface — ABC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1274552" cy="4846320"/>
          </a:xfrm>
          <a:prstGeom prst="rect">
            <a:avLst>
              <a:gd name="adj" fmla="val 1887"/>
            </a:avLst>
          </a:prstGeom>
          <a:solidFill>
            <a:srgbClr val="0D11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108813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abstractmethod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InstrumentAdapter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"""The contract. Any instrument must implement these."""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@abstractmethod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@abstractmethod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@abstractmethod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'Reading'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@abstractmethod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send_command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command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@property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@abstractmethod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is_connected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bool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methods. That's the entire contract. Any class implementing these can be used as an instrument.</a:t>
            </a:r>
            <a:endParaRPr lang="en-US" sz="13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Simulated vs Real Adapter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SimulatedInstrumentAdapter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336792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RealInstrumentAdapter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6336792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914400"/>
            <a:ext cx="0" cy="512064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SimulatedInstrumentAdapter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InstrumentAdapter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_connected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instant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Sine wave + noise, no hardware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22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*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math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random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gauss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B5CE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"degC"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_connected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3952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RealInstrumentAdapter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InstrumentAdapter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_port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_baud_rate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channel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write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f"READ:{channel}\n"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readline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_parse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_serial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close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598932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4FC3F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interface, completely different internals. The calling code cannot tell the difference.</a:t>
            </a:r>
            <a:endParaRPr lang="en-US" sz="13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Swapping at Startup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1274552" cy="4846320"/>
          </a:xfrm>
          <a:prstGeom prst="rect">
            <a:avLst>
              <a:gd name="adj" fmla="val 1887"/>
            </a:avLst>
          </a:prstGeom>
          <a:solidFill>
            <a:srgbClr val="0D11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108813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dict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InstrumentAdapter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"""Factory: config chooses the adapter, app doesn't care."""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device_type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'device'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'type'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device_type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'simulated'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SimulatedInstrumentAdapter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device_type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'serial'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RealInstrumentAdapter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port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'device'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'port'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baud_rate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'device'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'baud_rate'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else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raise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ValueError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f"Unknown device type: {device_type}"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 main.py — ONE line decides real vs simulated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Everything below this line is identical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regardless of which adapter was created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"temperature"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FC3F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3 — Build the Adapter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InstrumentAdapter ABC in labmonitor/core/adapter_interface.py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SimulatedInstrumentAdapter in labmonitor/drivers/simulated.py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test script that creates the adapter, connects, reads 10 values, disconnects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Verify: isinstance(adapter, InstrumentAdapter) is True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Extension: try toggling error modes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30 minutes</a:t>
            </a:r>
            <a:endParaRPr lang="en-US" sz="15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3 Debrief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same script, two different adapters, identical calling code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key insight: the calling code does not know or care which adapter is behind it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controller does not care."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phrase is the architectural mantra of the entire course</a:t>
            </a:r>
            <a:endParaRPr lang="en-US" sz="15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Problem — Measurement Modes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instrument supports: single reading, continuous, burst, averaging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the Strategy pattern: massive if/elif chain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mode means editing the core logic, risky and ugly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time you see a big if/elif for different modes, you're looking at a Strategy opportunity</a:t>
            </a:r>
            <a:endParaRPr lang="en-US" sz="15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The Strategy Pattern — Bad vs Good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if/elif sprawl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336792" y="868680"/>
            <a:ext cx="5394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BB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objects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6" name="Shape 4"/>
          <p:cNvSpPr/>
          <p:nvPr/>
        </p:nvSpPr>
        <p:spPr>
          <a:xfrm>
            <a:off x="6336792" y="1280160"/>
            <a:ext cx="5394960" cy="4572000"/>
          </a:xfrm>
          <a:prstGeom prst="rect">
            <a:avLst>
              <a:gd name="adj" fmla="val 2000"/>
            </a:avLst>
          </a:prstGeom>
          <a:solidFill>
            <a:srgbClr val="0D1117"/>
          </a:solidFill>
          <a:ln/>
        </p:spPr>
      </p:sp>
      <p:sp>
        <p:nvSpPr>
          <p:cNvPr id="7" name="Shape 5"/>
          <p:cNvSpPr/>
          <p:nvPr/>
        </p:nvSpPr>
        <p:spPr>
          <a:xfrm>
            <a:off x="6094476" y="914400"/>
            <a:ext cx="0" cy="5120640"/>
          </a:xfrm>
          <a:prstGeom prst="line">
            <a:avLst/>
          </a:prstGeom>
          <a:noFill/>
          <a:ln w="12700">
            <a:solidFill>
              <a:srgbClr val="44446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'single'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'continuous'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n_readings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append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time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sleep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elif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'averaging'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n_samples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'degC'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Adding a new mode? Edit here.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Hope nothing breaks.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73952" y="1371600"/>
            <a:ext cx="512064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MeasurementStrategy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ABC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@abstractmethod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list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SingleRead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MeasurementStrategy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Averaging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4EC9B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MeasurementStrategy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range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sum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value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vals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569CD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'degC'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CE91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'temp'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Adding a new mode? New class. Done.</a:t>
            </a:r>
            <a:endParaRPr lang="en-US" sz="11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Combining Adapter + Strategy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960120"/>
            <a:ext cx="11274552" cy="4846320"/>
          </a:xfrm>
          <a:prstGeom prst="rect">
            <a:avLst>
              <a:gd name="adj" fmla="val 1887"/>
            </a:avLst>
          </a:prstGeom>
          <a:solidFill>
            <a:srgbClr val="0D1117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051560"/>
            <a:ext cx="10881360" cy="4663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The controller picks a strategy and an adapter.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Neither knows the other's internals.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could be real or simulated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create_strategy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config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could be single, continuous, averaging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readings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strategy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execute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strategy uses 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adapter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DCDCA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disconnect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New device? New adapter class. Strategy unchanged.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New mode?   New strategy class. Adapter unchanged.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E6E6E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lnSpc>
                <a:spcPct val="108000"/>
              </a:lnSpc>
              <a:buNone/>
            </a:pPr>
            <a:r>
              <a:rPr lang="en-US" sz="1100" dirty="0">
                <a:solidFill>
                  <a:srgbClr val="6A995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 strategies x N adapters, all interchangeable.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E1E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4FC3F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4FC3F7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Lab 4 — Implement Strategies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the strategy implementations in labmonitor/core/strategies.py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 script that creates all three strategies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each strategy on the same SimulatedInstrumentAdapter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that strategies are interchangeable: write a run_strategy() function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Extension: create a BurstReadStrategy or FilteredStrategy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Time: 20 minutes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D11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Day 1 Recap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22960" y="1188720"/>
            <a:ext cx="1042416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Started with a messy script, identified why it breaks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OOP: objects, state, responsibility, composition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Identified seams in a messy driver and refactored toward clarity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an Adapter to abstract hardware (real vs simulated)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Strategies to abstract measurement behaviour</a:t>
            </a:r>
            <a:endParaRPr lang="en-US" sz="1500" dirty="0"/>
          </a:p>
          <a:p>
            <a:pPr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Tomorrow: wrap all of this in a real PySide6 desktop application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38</Slides>
  <Notes>38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38</vt:i4>
      </vt:variant>
    </vt:vector>
  </HeadingPairs>
  <TitlesOfParts>
    <vt:vector size="4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Day 1 - From Script to Architecture</dc:subject>
  <dc:creator>National Labs Training</dc:creator>
  <cp:lastModifiedBy>National Labs Training</cp:lastModifiedBy>
  <cp:revision>1</cp:revision>
  <dcterms:created xsi:type="dcterms:W3CDTF">2026-03-27T16:30:03Z</dcterms:created>
  <dcterms:modified xsi:type="dcterms:W3CDTF">2026-03-27T16:30:03Z</dcterms:modified>
</cp:coreProperties>
</file>